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Team und Projekt. Roter Faden: vier Testarten (Unit, Integration, E2E, Last) plus CI/CD – zu jeder erklären wir WARUM gerade so getestet wurde, WAS sie abdeckt und WIE (mit Code).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Testobjekt: schlanker Express-Warenkorb, keine DB, Sessions im RAM. Daraus folgt direkt, WAS wir testen: Cart-Logik und Session-Verhalten.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 Ebene testet ein anderes Risiko – das begründet die Auswahl. Nächste Slide: die Designprinzipien hinter UNSEREN Tests.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 der Frage 'warum so getestet'. Vier Prinzipien: (1) Architektur bestimmt die Auswahl, (2) wir testen bewusst auch Fehlerfälle, (3) bekannte Schwächen werden als Tests dokumentiert statt versteckt, (4) realistische Daten/Abläufe. Diese Prinzipien ziehen sich durch alle folgenden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Warum Unit: Cart-Logik ist geschäftskritisch und gut isolierbar. Code zeigt das Prinzip: instanziieren, Aktion, expect. Details der Abdeckung kommen auf der nächsten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Was die Unit-Tests abdecken und warum gerade diese: alle Cart-Operationen, plus zwei bewusste Spezialfälle – Geld-Mathematik (Floating Point) und Session-Rekonstruktion (kritisch wegen RAM-Architektur). Zwei rote Tests dokumentieren Schwächen.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Warum Integration: einzelne Funktionen können stimmen, das Zusammenspiel trotzdem brechen. Code zeigt den Trick: request.agent hält die Cookies, dadurch testen wir den echten Session-Flow über mehrere Requests. Details der Abdeckung folgen.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Abdeckung Integration: links die lesenden Routen/Ansichten, rechts die Zustandsänderungen samt Fehlergrenzen. Warum gerade so: wir prüfen Redirect-Codes und set-cookie, weil genau das den Session-Flow ausmacht. Die drei 500er sind bewusst dokumentiert – sie zeigen die fehlende Validierung.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Warum E2E: nur der echte Browser deckt Frontend↔Backend ab. Vier Journeys, bewusst gewählt: Hinzufügen, Entfernen, Reload-Persistenz (der wichtigste – wegen RAM-Sessions) und Navigation bei leerem Cart. Code zeigt den Reload-Test.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Warum Lasttests: 'works on my machine' ≠ 'unter Last'. Code zeigt, WIE wir Last modellieren: stufenweise hochrampen plus Schwelle p95&lt;1000ms. Warum p95 statt Durchschnitt: der Schnitt versteckt Ausreißer. Ziel-SLO p95&lt;500ms.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Warum Spike: bildet einen realen, plötzlichen Ansturm ab. Diagramm: flach bis 500, ab 1500 reißt p95 die 500ms-Grenze, bei 3000 Breaking Point mit ~10% Fehlern.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Warum Stress: ergänzt Spike – stufenweise bis zur Grenze. Drei Zahlen: Durchsatz deckelt bei ~2000 req/s, p95 auf ~2s (Ziel 0,5s), 0% Fehler – graceful degradation statt Absturz.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Analyse: Flaschenhals lokalisiert. Request-Waiting beweist Server-seitige Ursache – typisch single-threaded Node. Konkrete Optimierungen. Ehrlicher localhost-Hinweis.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Warum CI/CD: jede Änderung wird automatisch geprüft. Zwei Pipelines (Build+Unit über Node-Matrix, E2E). Weil keine DB nötig ist, laufen Tests isoliert – schnell, deterministisch, gecached.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Zusammenfassen: jede Testebene adressiert ein eigenes Risiko. Auswahl architektur-getrieben, bewusst auch Fehlerfaelle, Schwaechen dokumentiert. Kernzahlen: solide bis ~500 Nutzer, Saettigung ~2000 req/s. Offen fuer Fragen.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05156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test  &amp;&amp;  k6 run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1508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7D2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 Application Testing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18745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 Shopping Cart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02920" y="26974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mehrschichtige Teststrategie: was wurde warum und wie getestet?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2920" y="3794760"/>
            <a:ext cx="2194560" cy="0"/>
          </a:xfrm>
          <a:prstGeom prst="line">
            <a:avLst/>
          </a:prstGeom>
          <a:noFill/>
          <a:ln w="19050">
            <a:solidFill>
              <a:srgbClr val="0E74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39319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Andreas Pointner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Dominik Köberl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983480" y="4370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WAT4 · Projektpräsentation · 27.06.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TESTOBJEKT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Anwendung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325880"/>
            <a:ext cx="310896" cy="310896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325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1271016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
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Warenkorb-Prototyp mit serverseitigem Routing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2167128"/>
            <a:ext cx="310896" cy="310896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211226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im RAM
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Datenbank-Backend – Daten leben im Speicher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008376"/>
            <a:ext cx="310896" cy="310896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30083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95351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Handlebars (HBS)
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Template-basiertes Frontend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3931920"/>
            <a:ext cx="4663440" cy="841248"/>
          </a:xfrm>
          <a:prstGeom prst="roundRect">
            <a:avLst>
              <a:gd name="adj" fmla="val 8696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023360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relevant fürs Testen: 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Kernlogik steckt im Cart-Modell und im Session-Handling – genau das ist unser Testschwerpunkt.</a:t>
            </a:r>
            <a:endParaRPr lang="en-US" sz="1200" dirty="0"/>
          </a:p>
        </p:txBody>
      </p:sp>
      <p:pic>
        <p:nvPicPr>
          <p:cNvPr id="16" name="Image 0" descr="/sessions/compassionate-keen-volta/mnt/nodejs-shopping-cart/data/nodejs-cart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00995" y="1280160"/>
            <a:ext cx="2740085" cy="3246120"/>
          </a:xfrm>
          <a:prstGeom prst="rect">
            <a:avLst/>
          </a:prstGeom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pic>
      <p:sp>
        <p:nvSpPr>
          <p:cNvPr id="17" name="Text 14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STRATEGIE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Teststrategie nach der Testpyramide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4160520"/>
            <a:ext cx="4572000" cy="566928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416052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Lasttests · k6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051560" y="3520440"/>
            <a:ext cx="3657600" cy="56692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352044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· Playwright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508760" y="2880360"/>
            <a:ext cx="2743200" cy="566928"/>
          </a:xfrm>
          <a:prstGeom prst="rect">
            <a:avLst/>
          </a:prstGeom>
          <a:solidFill>
            <a:srgbClr val="67C9DD"/>
          </a:solidFill>
          <a:ln/>
        </p:spPr>
      </p:sp>
      <p:sp>
        <p:nvSpPr>
          <p:cNvPr id="10" name="Text 8"/>
          <p:cNvSpPr/>
          <p:nvPr/>
        </p:nvSpPr>
        <p:spPr>
          <a:xfrm>
            <a:off x="1508760" y="28803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· Jest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965960" y="2240280"/>
            <a:ext cx="1828800" cy="566928"/>
          </a:xfrm>
          <a:prstGeom prst="rect">
            <a:avLst/>
          </a:prstGeom>
          <a:solidFill>
            <a:srgbClr val="B8E6F0"/>
          </a:solidFill>
          <a:ln/>
        </p:spPr>
      </p:sp>
      <p:sp>
        <p:nvSpPr>
          <p:cNvPr id="12" name="Text 10"/>
          <p:cNvSpPr/>
          <p:nvPr/>
        </p:nvSpPr>
        <p:spPr>
          <a:xfrm>
            <a:off x="1965960" y="224028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· Jest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02920" y="42245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schnell · viele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14173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realistisch · wenige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0" y="1463040"/>
            <a:ext cx="146304" cy="146304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6" name="Text 14"/>
          <p:cNvSpPr/>
          <p:nvPr/>
        </p:nvSpPr>
        <p:spPr>
          <a:xfrm>
            <a:off x="5760720" y="13716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Funktional
</a:t>
            </a:r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Funktioniert die Logik korrekt? (Unit, Integration, E2E)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486400" y="2377440"/>
            <a:ext cx="146304" cy="146304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8" name="Text 16"/>
          <p:cNvSpPr/>
          <p:nvPr/>
        </p:nvSpPr>
        <p:spPr>
          <a:xfrm>
            <a:off x="5760720" y="22860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Nicht-funktional
</a:t>
            </a:r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gut hält sie unter Last? (Spike, Stress)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486400" y="3291840"/>
            <a:ext cx="146304" cy="146304"/>
          </a:xfrm>
          <a:prstGeom prst="ellipse">
            <a:avLst/>
          </a:prstGeom>
          <a:solidFill>
            <a:srgbClr val="D9870B"/>
          </a:solidFill>
          <a:ln/>
        </p:spPr>
      </p:sp>
      <p:sp>
        <p:nvSpPr>
          <p:cNvPr id="20" name="Text 18"/>
          <p:cNvSpPr/>
          <p:nvPr/>
        </p:nvSpPr>
        <p:spPr>
          <a:xfrm>
            <a:off x="5760720" y="32004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Automatisiert
</a:t>
            </a:r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Push wird in CI/CD geprüft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DESIGNENTSCHEIDUNG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genau diese Tests?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371600"/>
            <a:ext cx="3886200" cy="1417320"/>
          </a:xfrm>
          <a:prstGeom prst="roundRect">
            <a:avLst>
              <a:gd name="adj" fmla="val 5806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310896" cy="310896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600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60934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Architektur-getrieben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029968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DB → das Risiko liegt im Cart-Modell und in der Session. Jede Testebene zielt genau auf dieses Risiko.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54880" y="1371600"/>
            <a:ext cx="3886200" cy="1417320"/>
          </a:xfrm>
          <a:prstGeom prst="roundRect">
            <a:avLst>
              <a:gd name="adj" fmla="val 5806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983480" y="1600200"/>
            <a:ext cx="310896" cy="310896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2" name="Text 10"/>
          <p:cNvSpPr/>
          <p:nvPr/>
        </p:nvSpPr>
        <p:spPr>
          <a:xfrm>
            <a:off x="4983480" y="1600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40680" y="160934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Happy Path + Edge Cases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983480" y="2029968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 nur der Normalfall – bewusst auch kaputte Eingaben (Produkt ohne Preis, ungültige ID 999).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2920" y="3063240"/>
            <a:ext cx="3886200" cy="1417320"/>
          </a:xfrm>
          <a:prstGeom prst="roundRect">
            <a:avLst>
              <a:gd name="adj" fmla="val 5806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31520" y="3291840"/>
            <a:ext cx="310896" cy="310896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88720" y="330098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 dokumentieren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31520" y="3721608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 bzw. 500er-Tests halten bekannte Schwächen als Anforderung fest, statt sie zu verstecken.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754880" y="3063240"/>
            <a:ext cx="3886200" cy="1417320"/>
          </a:xfrm>
          <a:prstGeom prst="roundRect">
            <a:avLst>
              <a:gd name="adj" fmla="val 5806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83480" y="3291840"/>
            <a:ext cx="310896" cy="310896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22" name="Text 20"/>
          <p:cNvSpPr/>
          <p:nvPr/>
        </p:nvSpPr>
        <p:spPr>
          <a:xfrm>
            <a:off x="498348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40680" y="330098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Realistische Daten &amp; Abläufe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983480" y="3721608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Echte Produkt-IDs aus products.json, echte Cookie/Session-Flows, Reload-Persistenz.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FUNKTIONAL · EBENE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Unit-Tests (Jest)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0789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test  ·  models/cart.js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886200" cy="1234440"/>
          </a:xfrm>
          <a:prstGeom prst="roundRect">
            <a:avLst>
              <a:gd name="adj" fmla="val 5926"/>
            </a:avLst>
          </a:prstGeom>
          <a:solidFill>
            <a:srgbClr val="EAF7FB"/>
          </a:solidFill>
          <a:ln w="12700">
            <a:solidFill>
              <a:srgbClr val="C5E8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4088" y="15910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WARUM?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04088" y="1847088"/>
            <a:ext cx="3483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Warenkorb-Logik ist das Herz der App: Preis- &amp; Mengenberechnung. Ein Fehler hier betrifft jede Bestellung – isoliert getestet ist er sofort lokalisierbar.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3886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WORAUF WIR ZIELEN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3209544"/>
            <a:ext cx="182880" cy="18288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20954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95528" y="3154680"/>
            <a:ext cx="3575304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Korrektheit jeder Cart-Operation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471672"/>
            <a:ext cx="182880" cy="18288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47167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5528" y="3416808"/>
            <a:ext cx="3575304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Geld-Mathematik (Rundung / Floating Point)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3733800"/>
            <a:ext cx="182880" cy="18288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373380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95528" y="3678936"/>
            <a:ext cx="3575304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 aus der Session rekonstruieren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846320" y="1463040"/>
            <a:ext cx="3794760" cy="2514600"/>
          </a:xfrm>
          <a:prstGeom prst="roundRect">
            <a:avLst>
              <a:gd name="adj" fmla="val 2182"/>
            </a:avLst>
          </a:prstGeom>
          <a:solidFill>
            <a:srgbClr val="0B1016"/>
          </a:solidFill>
          <a:ln w="12700">
            <a:solidFill>
              <a:srgbClr val="24303B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047488" y="1627632"/>
            <a:ext cx="91440" cy="91440"/>
          </a:xfrm>
          <a:prstGeom prst="ellipse">
            <a:avLst/>
          </a:prstGeom>
          <a:solidFill>
            <a:srgbClr val="E0524B"/>
          </a:solidFill>
          <a:ln/>
        </p:spPr>
      </p:sp>
      <p:sp>
        <p:nvSpPr>
          <p:cNvPr id="21" name="Shape 19"/>
          <p:cNvSpPr/>
          <p:nvPr/>
        </p:nvSpPr>
        <p:spPr>
          <a:xfrm>
            <a:off x="5193792" y="1627632"/>
            <a:ext cx="91440" cy="91440"/>
          </a:xfrm>
          <a:prstGeom prst="ellipse">
            <a:avLst/>
          </a:prstGeom>
          <a:solidFill>
            <a:srgbClr val="D9870B"/>
          </a:solidFill>
          <a:ln/>
        </p:spPr>
      </p:sp>
      <p:sp>
        <p:nvSpPr>
          <p:cNvPr id="22" name="Shape 20"/>
          <p:cNvSpPr/>
          <p:nvPr/>
        </p:nvSpPr>
        <p:spPr>
          <a:xfrm>
            <a:off x="5340096" y="1627632"/>
            <a:ext cx="91440" cy="9144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5577840" y="155448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cart.test.js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102352" y="1920240"/>
            <a:ext cx="3337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cart = new Cart({});</a:t>
            </a:r>
            <a:pPr indent="0" marL="0">
              <a:lnSpc>
                <a:spcPct val="122000"/>
              </a:lnSpc>
              <a:buNone/>
            </a:pPr>
            <a:r>
              <a:rPr lang="en-US" sz="1050" i="1" dirty="0">
                <a:solidFill>
                  <a:srgbClr val="6B7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leerer Warenkorb</a:t>
            </a:r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cart.add(apple, apple.id);</a:t>
            </a:r>
            <a:pPr indent="0" marL="0">
              <a:lnSpc>
                <a:spcPct val="122000"/>
              </a:lnSpc>
              <a:buNone/>
            </a:pPr>
            <a:r>
              <a:rPr lang="en-US" sz="1050" i="1" dirty="0">
                <a:solidFill>
                  <a:srgbClr val="6B7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Produkt hinzufügen</a:t>
            </a:r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expect(cart.totalItems)</a:t>
            </a:r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.toBe(1);</a:t>
            </a:r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expect(cart.totalPrice)</a:t>
            </a:r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.toBe(1.50);</a:t>
            </a:r>
            <a:pPr indent="0" marL="0">
              <a:lnSpc>
                <a:spcPct val="122000"/>
              </a:lnSpc>
              <a:buNone/>
            </a:pPr>
            <a:r>
              <a:rPr lang="en-US" sz="1050" i="1" dirty="0">
                <a:solidFill>
                  <a:srgbClr val="6B7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Summe korrekt?</a:t>
            </a:r>
            <a:pPr indent="0" marL="0">
              <a:lnSpc>
                <a:spcPct val="122000"/>
              </a:lnSpc>
              <a:buNone/>
            </a:pP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2920" y="4069080"/>
            <a:ext cx="8138160" cy="658368"/>
          </a:xfrm>
          <a:prstGeom prst="roundRect">
            <a:avLst>
              <a:gd name="adj" fmla="val 11111"/>
            </a:avLst>
          </a:prstGeom>
          <a:solidFill>
            <a:srgbClr val="FBEEEC"/>
          </a:solidFill>
          <a:ln w="12700">
            <a:solidFill>
              <a:srgbClr val="F1C9C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04088" y="4215384"/>
            <a:ext cx="365760" cy="365760"/>
          </a:xfrm>
          <a:prstGeom prst="ellipse">
            <a:avLst/>
          </a:prstGeom>
          <a:solidFill>
            <a:srgbClr val="E0524B"/>
          </a:solidFill>
          <a:ln/>
        </p:spPr>
      </p:sp>
      <p:sp>
        <p:nvSpPr>
          <p:cNvPr id="27" name="Text 25"/>
          <p:cNvSpPr/>
          <p:nvPr/>
        </p:nvSpPr>
        <p:spPr>
          <a:xfrm>
            <a:off x="704088" y="4215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252728" y="41605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E05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bewusst rote Tests = dokumentierte Schwachstellen: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Produkte ohne Preis werden akzeptiert (fehlende Validierung) und das Entfernen eines nicht vorhandenen Produkts wirft eine Exception.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 · ABDECKUNG &amp; AUSWAHL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Tests am Cart-Modell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37160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04088" y="1517904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HINZUFÜGEN &amp; MENGEN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04088" y="184708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84708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78408" y="1783080"/>
            <a:ext cx="3374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Neues Produkt anlegen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04088" y="2203704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" y="2203704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78408" y="2139696"/>
            <a:ext cx="3374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 erhöhen bei gleichem Artikel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04088" y="2560320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2560320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978408" y="2496312"/>
            <a:ext cx="3374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Getrennte Keys für versch. Produkte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04088" y="2916936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2916936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78408" y="2852928"/>
            <a:ext cx="3374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aus Session rekonstruieren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04088" y="3273552"/>
            <a:ext cx="173736" cy="173736"/>
          </a:xfrm>
          <a:prstGeom prst="ellipse">
            <a:avLst/>
          </a:prstGeom>
          <a:solidFill>
            <a:srgbClr val="E0524B"/>
          </a:solidFill>
          <a:ln/>
        </p:spPr>
      </p:sp>
      <p:sp>
        <p:nvSpPr>
          <p:cNvPr id="20" name="Text 18"/>
          <p:cNvSpPr/>
          <p:nvPr/>
        </p:nvSpPr>
        <p:spPr>
          <a:xfrm>
            <a:off x="704088" y="3273552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78408" y="3209544"/>
            <a:ext cx="3374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Produkt ohne Preis ablehnen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137160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64608" y="1517904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PREIS &amp; ENTFERNEN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64608" y="184708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5" name="Text 23"/>
          <p:cNvSpPr/>
          <p:nvPr/>
        </p:nvSpPr>
        <p:spPr>
          <a:xfrm>
            <a:off x="4864608" y="184708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138928" y="1783080"/>
            <a:ext cx="3374136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Gesamtpreis korrekt summieren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64608" y="214426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8" name="Text 26"/>
          <p:cNvSpPr/>
          <p:nvPr/>
        </p:nvSpPr>
        <p:spPr>
          <a:xfrm>
            <a:off x="4864608" y="214426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138928" y="2080260"/>
            <a:ext cx="3374136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Floating-Point: 9,99 × 3 = 29,97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64608" y="244144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31" name="Text 29"/>
          <p:cNvSpPr/>
          <p:nvPr/>
        </p:nvSpPr>
        <p:spPr>
          <a:xfrm>
            <a:off x="4864608" y="244144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138928" y="2377440"/>
            <a:ext cx="3374136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Artikel vollständig entfernen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864608" y="273862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34" name="Text 32"/>
          <p:cNvSpPr/>
          <p:nvPr/>
        </p:nvSpPr>
        <p:spPr>
          <a:xfrm>
            <a:off x="4864608" y="273862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138928" y="2674620"/>
            <a:ext cx="3374136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getItems() liefert Array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864608" y="303580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37" name="Text 35"/>
          <p:cNvSpPr/>
          <p:nvPr/>
        </p:nvSpPr>
        <p:spPr>
          <a:xfrm>
            <a:off x="4864608" y="303580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138928" y="2971800"/>
            <a:ext cx="3374136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Leerer Warenkorb = Default-Werte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864608" y="3332988"/>
            <a:ext cx="173736" cy="173736"/>
          </a:xfrm>
          <a:prstGeom prst="ellipse">
            <a:avLst/>
          </a:prstGeom>
          <a:solidFill>
            <a:srgbClr val="E0524B"/>
          </a:solidFill>
          <a:ln/>
        </p:spPr>
      </p:sp>
      <p:sp>
        <p:nvSpPr>
          <p:cNvPr id="40" name="Text 38"/>
          <p:cNvSpPr/>
          <p:nvPr/>
        </p:nvSpPr>
        <p:spPr>
          <a:xfrm>
            <a:off x="4864608" y="333298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138928" y="3268980"/>
            <a:ext cx="3374136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Entfernen nicht-existent ohne Crash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02920" y="3931920"/>
            <a:ext cx="8138160" cy="804672"/>
          </a:xfrm>
          <a:prstGeom prst="roundRect">
            <a:avLst>
              <a:gd name="adj" fmla="val 9091"/>
            </a:avLst>
          </a:prstGeom>
          <a:solidFill>
            <a:srgbClr val="EAF7FB"/>
          </a:solidFill>
          <a:ln w="12700">
            <a:solidFill>
              <a:srgbClr val="C5E8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1520" y="402336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Bewusst gewählt: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Floating-Point-Test (9,99 × 3), weil Preisfehler geschäftskritisch sind, und die Rekonstruktion aus der Session, weil der Warenkorb bei JEDEM Request neu aus dem Session-Objekt gebaut wird.  </a:t>
            </a:r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E05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= bewusst rot.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FUNKTIONAL · EBENE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Integration-Tests (Jest + supertest)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0789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test  ·  routes/index.js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886200" cy="1325880"/>
          </a:xfrm>
          <a:prstGeom prst="roundRect">
            <a:avLst>
              <a:gd name="adj" fmla="val 5517"/>
            </a:avLst>
          </a:prstGeom>
          <a:solidFill>
            <a:srgbClr val="EAF7FB"/>
          </a:solidFill>
          <a:ln w="12700">
            <a:solidFill>
              <a:srgbClr val="C5E8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4088" y="15910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WARUM?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04088" y="1847088"/>
            <a:ext cx="3483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korrektes Cart-Modell nützt nichts, wenn die Route es nicht richtig in der Session speichert. Wir testen die Naht Routing ↔ Session über echte HTTP-Requests – ohne Browser, also schneller als E2E.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" y="2971800"/>
            <a:ext cx="3886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WORAUF WIR ZIELEN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3300984"/>
            <a:ext cx="182880" cy="18288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30098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95528" y="3246120"/>
            <a:ext cx="3575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Routen rendern Katalog &amp; Warenkorb korrekt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547872"/>
            <a:ext cx="182880" cy="18288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54787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5528" y="3493008"/>
            <a:ext cx="3575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persistiert über mehrere Requests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3794760"/>
            <a:ext cx="182880" cy="18288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379476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95528" y="3739896"/>
            <a:ext cx="3575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Verhalten bei ungültigen Eingaben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846320" y="1463040"/>
            <a:ext cx="3794760" cy="2834640"/>
          </a:xfrm>
          <a:prstGeom prst="roundRect">
            <a:avLst>
              <a:gd name="adj" fmla="val 1935"/>
            </a:avLst>
          </a:prstGeom>
          <a:solidFill>
            <a:srgbClr val="0B1016"/>
          </a:solidFill>
          <a:ln w="12700">
            <a:solidFill>
              <a:srgbClr val="24303B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047488" y="1627632"/>
            <a:ext cx="91440" cy="91440"/>
          </a:xfrm>
          <a:prstGeom prst="ellipse">
            <a:avLst/>
          </a:prstGeom>
          <a:solidFill>
            <a:srgbClr val="E0524B"/>
          </a:solidFill>
          <a:ln/>
        </p:spPr>
      </p:sp>
      <p:sp>
        <p:nvSpPr>
          <p:cNvPr id="21" name="Shape 19"/>
          <p:cNvSpPr/>
          <p:nvPr/>
        </p:nvSpPr>
        <p:spPr>
          <a:xfrm>
            <a:off x="5193792" y="1627632"/>
            <a:ext cx="91440" cy="91440"/>
          </a:xfrm>
          <a:prstGeom prst="ellipse">
            <a:avLst/>
          </a:prstGeom>
          <a:solidFill>
            <a:srgbClr val="D9870B"/>
          </a:solidFill>
          <a:ln/>
        </p:spPr>
      </p:sp>
      <p:sp>
        <p:nvSpPr>
          <p:cNvPr id="22" name="Shape 20"/>
          <p:cNvSpPr/>
          <p:nvPr/>
        </p:nvSpPr>
        <p:spPr>
          <a:xfrm>
            <a:off x="5340096" y="1627632"/>
            <a:ext cx="91440" cy="9144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5577840" y="155448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integration.test.js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102352" y="1920240"/>
            <a:ext cx="33375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agent =</a:t>
            </a:r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request.agent(app);</a:t>
            </a:r>
            <a:pPr indent="0" marL="0">
              <a:lnSpc>
                <a:spcPct val="122000"/>
              </a:lnSpc>
              <a:buNone/>
            </a:pPr>
            <a:r>
              <a:rPr lang="en-US" sz="1050" i="1" dirty="0">
                <a:solidFill>
                  <a:srgbClr val="6B7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hält Cookies</a:t>
            </a:r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agent.get('/add/'+id);</a:t>
            </a:r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res =</a:t>
            </a:r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agent.get('/cart');</a:t>
            </a:r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expect(res.text)</a:t>
            </a:r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.toContain(product.title);</a:t>
            </a:r>
            <a:pPr indent="0" marL="0">
              <a:lnSpc>
                <a:spcPct val="122000"/>
              </a:lnSpc>
              <a:buNone/>
            </a:pPr>
            <a:r>
              <a:rPr lang="en-US" sz="1050" i="1" dirty="0">
                <a:solidFill>
                  <a:srgbClr val="6B7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im Cart?</a:t>
            </a:r>
            <a:pPr indent="0" marL="0">
              <a:lnSpc>
                <a:spcPct val="122000"/>
              </a:lnSpc>
              <a:buNone/>
            </a:pP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INTEGRATION · ABDECKUNG &amp; AUSWAHL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Tests an Routen &amp; Session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37160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04088" y="1517904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ROUTEN &amp; ANSICHTEN (LESEND)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04088" y="184708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84708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78408" y="1783080"/>
            <a:ext cx="337413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 rendert Katalog aus JSON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04088" y="229285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" y="229285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78408" y="2228850"/>
            <a:ext cx="337413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/cart leer ohne Session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04088" y="273862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273862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978408" y="2674620"/>
            <a:ext cx="337413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/cart zeigt Artikel nach /add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04088" y="318439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18439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78408" y="3120390"/>
            <a:ext cx="337413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/cart wieder leer nach /remove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137160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864608" y="1517904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MUTATIONEN &amp; FEHLERGRENZEN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64608" y="184708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2" name="Text 20"/>
          <p:cNvSpPr/>
          <p:nvPr/>
        </p:nvSpPr>
        <p:spPr>
          <a:xfrm>
            <a:off x="4864608" y="184708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38928" y="1783080"/>
            <a:ext cx="3374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/add → 302 Redirect + set-cookie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64608" y="2203704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5" name="Text 23"/>
          <p:cNvSpPr/>
          <p:nvPr/>
        </p:nvSpPr>
        <p:spPr>
          <a:xfrm>
            <a:off x="4864608" y="2203704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138928" y="2139696"/>
            <a:ext cx="3374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/remove → 302 Redirect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64608" y="2560320"/>
            <a:ext cx="173736" cy="173736"/>
          </a:xfrm>
          <a:prstGeom prst="ellipse">
            <a:avLst/>
          </a:prstGeom>
          <a:solidFill>
            <a:srgbClr val="D9870B"/>
          </a:solidFill>
          <a:ln/>
        </p:spPr>
      </p:sp>
      <p:sp>
        <p:nvSpPr>
          <p:cNvPr id="28" name="Text 26"/>
          <p:cNvSpPr/>
          <p:nvPr/>
        </p:nvSpPr>
        <p:spPr>
          <a:xfrm>
            <a:off x="4864608" y="2560320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138928" y="2496312"/>
            <a:ext cx="3374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/add/999 (ungültige ID) → 500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64608" y="2916936"/>
            <a:ext cx="173736" cy="173736"/>
          </a:xfrm>
          <a:prstGeom prst="ellipse">
            <a:avLst/>
          </a:prstGeom>
          <a:solidFill>
            <a:srgbClr val="D9870B"/>
          </a:solidFill>
          <a:ln/>
        </p:spPr>
      </p:sp>
      <p:sp>
        <p:nvSpPr>
          <p:cNvPr id="31" name="Text 29"/>
          <p:cNvSpPr/>
          <p:nvPr/>
        </p:nvSpPr>
        <p:spPr>
          <a:xfrm>
            <a:off x="4864608" y="2916936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138928" y="2852928"/>
            <a:ext cx="3374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/remove/999 → 500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864608" y="3273552"/>
            <a:ext cx="173736" cy="173736"/>
          </a:xfrm>
          <a:prstGeom prst="ellipse">
            <a:avLst/>
          </a:prstGeom>
          <a:solidFill>
            <a:srgbClr val="D9870B"/>
          </a:solidFill>
          <a:ln/>
        </p:spPr>
      </p:sp>
      <p:sp>
        <p:nvSpPr>
          <p:cNvPr id="34" name="Text 32"/>
          <p:cNvSpPr/>
          <p:nvPr/>
        </p:nvSpPr>
        <p:spPr>
          <a:xfrm>
            <a:off x="4864608" y="3273552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138928" y="3209544"/>
            <a:ext cx="3374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/remove ohne Warenkorb → 500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2920" y="3931920"/>
            <a:ext cx="8138160" cy="804672"/>
          </a:xfrm>
          <a:prstGeom prst="roundRect">
            <a:avLst>
              <a:gd name="adj" fmla="val 9091"/>
            </a:avLst>
          </a:prstGeom>
          <a:solidFill>
            <a:srgbClr val="EAF7FB"/>
          </a:solidFill>
          <a:ln w="12700">
            <a:solidFill>
              <a:srgbClr val="C5E8F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402336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Bewusst gewählt: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request.agent hält Cookies → echter Session-Flow über mehrere Requests. Die </a:t>
            </a:r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D987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= 500er-Fälle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prüfen wir bewusst, um die fehlende Eingabe-Validierung der Routen festzuhalten (aktueller Ist-Zustand).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FUNKTIONAL · EBENE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End-to-End-Tests (Playwright)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0789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playwright test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886200" cy="1280160"/>
          </a:xfrm>
          <a:prstGeom prst="roundRect">
            <a:avLst>
              <a:gd name="adj" fmla="val 5714"/>
            </a:avLst>
          </a:prstGeom>
          <a:solidFill>
            <a:srgbClr val="EAF7FB"/>
          </a:solidFill>
          <a:ln w="12700">
            <a:solidFill>
              <a:srgbClr val="C5E8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4088" y="15910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WARUM?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04088" y="1847088"/>
            <a:ext cx="34838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der echte Browser beweist, dass Frontend und Backend für den Nutzer zusammen funktionieren – inklusive Session-Persistenz nach einem Reload (kritisch, weil alles im RAM liegt).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926080"/>
            <a:ext cx="3886200" cy="1417320"/>
          </a:xfrm>
          <a:prstGeom prst="roundRect">
            <a:avLst>
              <a:gd name="adj" fmla="val 5161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04088" y="307238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GETESTETE USER-JOURNEYS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04088" y="340156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340156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78408" y="3337560"/>
            <a:ext cx="3282696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Artikel hinzufügen &amp; im Cart sichtbar (CHF)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04088" y="361873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704088" y="361873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78408" y="3554730"/>
            <a:ext cx="3282696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Artikel entfernen → leerer Zustand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04088" y="383590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704088" y="383590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78408" y="3771900"/>
            <a:ext cx="3282696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Session-Persistenz über Reload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04088" y="405307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1" name="Text 19"/>
          <p:cNvSpPr/>
          <p:nvPr/>
        </p:nvSpPr>
        <p:spPr>
          <a:xfrm>
            <a:off x="704088" y="405307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78408" y="3989070"/>
            <a:ext cx="3282696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bei leerem Warenkorb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46320" y="1463040"/>
            <a:ext cx="3794760" cy="2240280"/>
          </a:xfrm>
          <a:prstGeom prst="roundRect">
            <a:avLst>
              <a:gd name="adj" fmla="val 2449"/>
            </a:avLst>
          </a:prstGeom>
          <a:solidFill>
            <a:srgbClr val="0B1016"/>
          </a:solidFill>
          <a:ln w="12700">
            <a:solidFill>
              <a:srgbClr val="24303B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047488" y="1627632"/>
            <a:ext cx="91440" cy="91440"/>
          </a:xfrm>
          <a:prstGeom prst="ellipse">
            <a:avLst/>
          </a:prstGeom>
          <a:solidFill>
            <a:srgbClr val="E0524B"/>
          </a:solidFill>
          <a:ln/>
        </p:spPr>
      </p:sp>
      <p:sp>
        <p:nvSpPr>
          <p:cNvPr id="25" name="Shape 23"/>
          <p:cNvSpPr/>
          <p:nvPr/>
        </p:nvSpPr>
        <p:spPr>
          <a:xfrm>
            <a:off x="5193792" y="1627632"/>
            <a:ext cx="91440" cy="91440"/>
          </a:xfrm>
          <a:prstGeom prst="ellipse">
            <a:avLst/>
          </a:prstGeom>
          <a:solidFill>
            <a:srgbClr val="D9870B"/>
          </a:solidFill>
          <a:ln/>
        </p:spPr>
      </p:sp>
      <p:sp>
        <p:nvSpPr>
          <p:cNvPr id="26" name="Shape 24"/>
          <p:cNvSpPr/>
          <p:nvPr/>
        </p:nvSpPr>
        <p:spPr>
          <a:xfrm>
            <a:off x="5340096" y="1627632"/>
            <a:ext cx="91440" cy="9144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7" name="Text 25"/>
          <p:cNvSpPr/>
          <p:nvPr/>
        </p:nvSpPr>
        <p:spPr>
          <a:xfrm>
            <a:off x="5577840" y="155448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shopping-cart.spec.js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102352" y="1920240"/>
            <a:ext cx="3337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page.goto(BASE_URL);</a:t>
            </a:r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page.click(</a:t>
            </a:r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'a[href^="/add/"]');</a:t>
            </a:r>
            <a:pPr indent="0" marL="0">
              <a:lnSpc>
                <a:spcPct val="122000"/>
              </a:lnSpc>
              <a:buNone/>
            </a:pPr>
            <a:r>
              <a:rPr lang="en-US" sz="1050" i="1" dirty="0">
                <a:solidFill>
                  <a:srgbClr val="6B7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Produkt klicken</a:t>
            </a:r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page.reload();</a:t>
            </a:r>
            <a:pPr indent="0" marL="0">
              <a:lnSpc>
                <a:spcPct val="122000"/>
              </a:lnSpc>
              <a:buNone/>
            </a:pPr>
            <a:r>
              <a:rPr lang="en-US" sz="1050" i="1" dirty="0">
                <a:solidFill>
                  <a:srgbClr val="6B7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Reload!</a:t>
            </a:r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expect(item)</a:t>
            </a:r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.toBeVisible();</a:t>
            </a:r>
            <a:pPr indent="0" marL="0">
              <a:lnSpc>
                <a:spcPct val="122000"/>
              </a:lnSpc>
              <a:buNone/>
            </a:pPr>
            <a:r>
              <a:rPr lang="en-US" sz="1050" i="1" dirty="0">
                <a:solidFill>
                  <a:srgbClr val="6B7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noch im Cart?</a:t>
            </a:r>
            <a:pPr indent="0" marL="0">
              <a:lnSpc>
                <a:spcPct val="122000"/>
              </a:lnSpc>
              <a:buNone/>
            </a:pP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846320" y="384048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Warum: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Reload-Test beweist, dass die Server-Session den Warenkorb hält – alle 4 grün.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NICHT-FUNKTIONAL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Lasttests mit Grafana k6 – warum?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325880"/>
            <a:ext cx="3931920" cy="1188720"/>
          </a:xfrm>
          <a:prstGeom prst="roundRect">
            <a:avLst>
              <a:gd name="adj" fmla="val 6154"/>
            </a:avLst>
          </a:prstGeom>
          <a:solidFill>
            <a:srgbClr val="EAF7FB"/>
          </a:solidFill>
          <a:ln w="12700">
            <a:solidFill>
              <a:srgbClr val="C5E8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088" y="145389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WARUM?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04088" y="1709928"/>
            <a:ext cx="35295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„It works on my machine“ ≠ „It works under load“. Funktionale Tests zeigen, OB es funktioniert – Lasttests zeigen, WIE GUT es unter realer Last skaliert.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78608"/>
            <a:ext cx="3931920" cy="2286000"/>
          </a:xfrm>
          <a:prstGeom prst="roundRect">
            <a:avLst>
              <a:gd name="adj" fmla="val 2400"/>
            </a:avLst>
          </a:prstGeom>
          <a:solidFill>
            <a:srgbClr val="0B1016"/>
          </a:solidFill>
          <a:ln w="12700">
            <a:solidFill>
              <a:srgbClr val="24303B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04088" y="2743200"/>
            <a:ext cx="91440" cy="91440"/>
          </a:xfrm>
          <a:prstGeom prst="ellipse">
            <a:avLst/>
          </a:prstGeom>
          <a:solidFill>
            <a:srgbClr val="E0524B"/>
          </a:solidFill>
          <a:ln/>
        </p:spPr>
      </p:sp>
      <p:sp>
        <p:nvSpPr>
          <p:cNvPr id="10" name="Shape 8"/>
          <p:cNvSpPr/>
          <p:nvPr/>
        </p:nvSpPr>
        <p:spPr>
          <a:xfrm>
            <a:off x="850392" y="2743200"/>
            <a:ext cx="91440" cy="91440"/>
          </a:xfrm>
          <a:prstGeom prst="ellipse">
            <a:avLst/>
          </a:prstGeom>
          <a:solidFill>
            <a:srgbClr val="D9870B"/>
          </a:solidFill>
          <a:ln/>
        </p:spPr>
      </p:sp>
      <p:sp>
        <p:nvSpPr>
          <p:cNvPr id="11" name="Shape 9"/>
          <p:cNvSpPr/>
          <p:nvPr/>
        </p:nvSpPr>
        <p:spPr>
          <a:xfrm>
            <a:off x="996696" y="2743200"/>
            <a:ext cx="91440" cy="9144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1234440" y="267004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stress-test.js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58952" y="3035808"/>
            <a:ext cx="3474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const options = {</a:t>
            </a:r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stages: [</a:t>
            </a:r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target: 400,  duration:'30s' },</a:t>
            </a:r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target: 2800, duration:'30s' },</a:t>
            </a:r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thresholds: {</a:t>
            </a:r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http_req_duration:['p(95)&lt;1000']</a:t>
            </a:r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pPr indent="0" marL="0">
              <a:lnSpc>
                <a:spcPct val="122000"/>
              </a:lnSpc>
              <a:buNone/>
            </a:pP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937760" y="1371600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Lastprofile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937760" y="1828800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6" name="Text 14"/>
          <p:cNvSpPr/>
          <p:nvPr/>
        </p:nvSpPr>
        <p:spPr>
          <a:xfrm>
            <a:off x="5212080" y="173736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Spike  </a:t>
            </a:r>
            <a:pPr indent="0" marL="0">
              <a:lnSpc>
                <a:spcPct val="100000"/>
              </a:lnSpc>
              <a:buNone/>
            </a:pPr>
            <a:endParaRPr lang="en-US" sz="13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Plötzliche Lastspitze – schlagartiger Ansturm (50 → 3.000 Nutzer)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937760" y="2578608"/>
            <a:ext cx="146304" cy="146304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8" name="Text 16"/>
          <p:cNvSpPr/>
          <p:nvPr/>
        </p:nvSpPr>
        <p:spPr>
          <a:xfrm>
            <a:off x="5212080" y="2487168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 </a:t>
            </a:r>
            <a:pPr indent="0" marL="0">
              <a:lnSpc>
                <a:spcPct val="100000"/>
              </a:lnSpc>
              <a:buNone/>
            </a:pPr>
            <a:endParaRPr lang="en-US" sz="13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Stufenweise an die Grenze – wo liegt der Sättigungspunkt?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937760" y="333756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12181F"/>
          </a:solidFill>
          <a:ln/>
        </p:spPr>
      </p:sp>
      <p:sp>
        <p:nvSpPr>
          <p:cNvPr id="20" name="Text 18"/>
          <p:cNvSpPr/>
          <p:nvPr/>
        </p:nvSpPr>
        <p:spPr>
          <a:xfrm>
            <a:off x="5120640" y="34564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Kennzahl: p95-Antwortzeit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120640" y="373075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95 % der Anfragen sind schneller als dieser Wert – ehrlicher als der Durchschnitt, der Ausreißer versteckt.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20640" y="427939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Ziel-SLO: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&lt; 500 ms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LASTTEST · TYP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Spike Test – plötzliche Lastspitze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</p:sp>
      <p:pic>
        <p:nvPicPr>
          <p:cNvPr id="5" name="Image 0" descr="/sessions/compassionate-keen-volta/mnt/nodejs-shopping-cart/data/spike-test-p95-diagra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25880"/>
            <a:ext cx="4297680" cy="2602651"/>
          </a:xfrm>
          <a:prstGeom prst="rect">
            <a:avLst/>
          </a:prstGeom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02920" y="4019971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 über steigende Nutzerzahl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166360" y="1417320"/>
            <a:ext cx="3474720" cy="868680"/>
          </a:xfrm>
          <a:prstGeom prst="roundRect">
            <a:avLst>
              <a:gd name="adj" fmla="val 7368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349240" y="15270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 500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6949440" y="15087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Exzellente Performance, stabil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166360" y="2395728"/>
            <a:ext cx="3474720" cy="868680"/>
          </a:xfrm>
          <a:prstGeom prst="roundRect">
            <a:avLst>
              <a:gd name="adj" fmla="val 7368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349240" y="2505456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7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 1.500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6949440" y="248716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überschreitet 500 ms – spürbar träger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166360" y="3374136"/>
            <a:ext cx="3474720" cy="868680"/>
          </a:xfrm>
          <a:prstGeom prst="roundRect">
            <a:avLst>
              <a:gd name="adj" fmla="val 7368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349240" y="3483864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05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3.000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6949440" y="3465576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Point: Fehlerrate 9,65 %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166360" y="437083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so testen: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realer Ansturm (z. B. Aktion) trifft die App schlagartig – optimal bis ~500 Nutzer, darüber Load-Balancing nötig.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LASTTEST · TYP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 – stufenweise an die Grenze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</p:sp>
      <p:pic>
        <p:nvPicPr>
          <p:cNvPr id="5" name="Image 0" descr="/sessions/compassionate-keen-volta/mnt/nodejs-shopping-cart/data/stress-test-result-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188720"/>
            <a:ext cx="6024366" cy="1143000"/>
          </a:xfrm>
          <a:prstGeom prst="rect">
            <a:avLst/>
          </a:prstGeom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02920" y="238658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Durchsatz (grün) flacht ab, p95 (blau) steigt – Fehlerrate bleibt 0 %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2852928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so testen: </a:t>
            </a:r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stufenweise Steigerung deckt den Sättigungspunkt auf. Aufbau: 400 → 2.800 Nutzer, Schwellen p95 &lt; 1.000 ms, Abbruch ab 5 % Fehlern.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02920" y="3383280"/>
            <a:ext cx="2529840" cy="1298448"/>
          </a:xfrm>
          <a:prstGeom prst="roundRect">
            <a:avLst>
              <a:gd name="adj" fmla="val 6338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02920" y="3502152"/>
            <a:ext cx="2529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~2.000</a:t>
            </a:r>
            <a:endParaRPr lang="en-US" sz="3300" dirty="0"/>
          </a:p>
        </p:txBody>
      </p:sp>
      <p:sp>
        <p:nvSpPr>
          <p:cNvPr id="10" name="Text 7"/>
          <p:cNvSpPr/>
          <p:nvPr/>
        </p:nvSpPr>
        <p:spPr>
          <a:xfrm>
            <a:off x="640080" y="4160520"/>
            <a:ext cx="225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req/s Obergrenze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307080" y="3383280"/>
            <a:ext cx="2529840" cy="1298448"/>
          </a:xfrm>
          <a:prstGeom prst="roundRect">
            <a:avLst>
              <a:gd name="adj" fmla="val 6338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3307080" y="3502152"/>
            <a:ext cx="2529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D987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s</a:t>
            </a:r>
            <a:endParaRPr lang="en-US" sz="3300" dirty="0"/>
          </a:p>
        </p:txBody>
      </p:sp>
      <p:sp>
        <p:nvSpPr>
          <p:cNvPr id="13" name="Text 10"/>
          <p:cNvSpPr/>
          <p:nvPr/>
        </p:nvSpPr>
        <p:spPr>
          <a:xfrm>
            <a:off x="3444240" y="4160520"/>
            <a:ext cx="225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im Peak (Ziel: 0,5 s)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111240" y="3383280"/>
            <a:ext cx="2529840" cy="1298448"/>
          </a:xfrm>
          <a:prstGeom prst="roundRect">
            <a:avLst>
              <a:gd name="adj" fmla="val 6338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111240" y="3502152"/>
            <a:ext cx="2529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0 %</a:t>
            </a:r>
            <a:endParaRPr lang="en-US" sz="3300" dirty="0"/>
          </a:p>
        </p:txBody>
      </p:sp>
      <p:sp>
        <p:nvSpPr>
          <p:cNvPr id="16" name="Text 13"/>
          <p:cNvSpPr/>
          <p:nvPr/>
        </p:nvSpPr>
        <p:spPr>
          <a:xfrm>
            <a:off x="6248400" y="4160520"/>
            <a:ext cx="225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 – kein Absturz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Flaschenhals &amp; Optimierung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325880"/>
            <a:ext cx="4114800" cy="2788920"/>
          </a:xfrm>
          <a:prstGeom prst="roundRect">
            <a:avLst>
              <a:gd name="adj" fmla="val 2951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63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 steckt der Flaschenhals?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31520" y="1874520"/>
            <a:ext cx="36576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Request-Phasen aufgeschlüsselt:
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Waiting (Server)  </a:t>
            </a:r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E05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1,5–2 s
</a:t>
            </a:r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Sending (Netzwerk)  </a:t>
            </a:r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µs
</a:t>
            </a:r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TLS  </a:t>
            </a:r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0 (reines HTTP)
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Zeit verstreicht im Server selbst – nicht im Netzwerk. Ursache: Node.js ist single-threaded; der Event-Loop sättigt bei ~2.000 req/s.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937760" y="1417320"/>
            <a:ext cx="310896" cy="310896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394960" y="13716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skalieren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Cluster / PM2 über alle CPU-Kerne, mehrere Instanzen hinter Load Balancer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937760" y="2331720"/>
            <a:ext cx="310896" cy="310896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94960" y="22860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Caching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Statische Produktdaten zwischenspeichern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937760" y="3246120"/>
            <a:ext cx="310896" cy="310896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5" name="Text 13"/>
          <p:cNvSpPr/>
          <p:nvPr/>
        </p:nvSpPr>
        <p:spPr>
          <a:xfrm>
            <a:off x="4937760" y="3246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394960" y="32004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Connection-Tuning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Keep-alive &amp; Connection-Pool optimieren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937760" y="420624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D987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Hinweis: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liefen gegen localhost – die Obergrenze ist teils durch die Testmaschine limitiert.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AUTOMATISIERUNG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CI/CD-Pipeline (GitHub Actions)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371600"/>
            <a:ext cx="3886200" cy="1737360"/>
          </a:xfrm>
          <a:prstGeom prst="roundRect">
            <a:avLst>
              <a:gd name="adj" fmla="val 4737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53619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build.yml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810512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Unit-Test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19456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prüfen, dann Tests über Node-Matrix 18 / 20 / 22. npm ci für deterministische Installs.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371600"/>
            <a:ext cx="3886200" cy="1737360"/>
          </a:xfrm>
          <a:prstGeom prst="roundRect">
            <a:avLst>
              <a:gd name="adj" fmla="val 4737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83480" y="153619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playwright.yml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83480" y="1810512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E2E-Pipeline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83480" y="219456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Startet den Express-Server, fährt die Playwright-Suite, erzeugt bei Fehlern automatisch Reports.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3337560"/>
            <a:ext cx="8138160" cy="1371600"/>
          </a:xfrm>
          <a:prstGeom prst="roundRect">
            <a:avLst>
              <a:gd name="adj" fmla="val 5333"/>
            </a:avLst>
          </a:prstGeom>
          <a:solidFill>
            <a:srgbClr val="12181F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474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CI/CD? Test-Isolation als Qualitätsmerkmal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77240" y="3886200"/>
            <a:ext cx="234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externen Dienste
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DB-Service nötig – läuft isoliert im Runner-Memory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398520" y="3886200"/>
            <a:ext cx="234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Deterministisch
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ci nutzt exakt die gelockten Paketversionen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019800" y="3886200"/>
            <a:ext cx="234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Caching
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cache: 'npm' → Installation in Sekunden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00584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Vollständig getestet – funktional &amp; unter Last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02920" y="2048256"/>
            <a:ext cx="310896" cy="310896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048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60120" y="1956816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Architektur-getrieben
</a:t>
            </a:r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Ebene testet das Risiko aus der DB-losen Architektur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800600" y="2048256"/>
            <a:ext cx="310896" cy="310896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7" name="Text 5"/>
          <p:cNvSpPr/>
          <p:nvPr/>
        </p:nvSpPr>
        <p:spPr>
          <a:xfrm>
            <a:off x="4800600" y="2048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257800" y="1956816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Belastbar
</a:t>
            </a:r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Solide bis ~500 Nutzer; Sättigung &amp; Breaking Point identifiziert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" y="3191256"/>
            <a:ext cx="310896" cy="310896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3191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3099816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Ehrlich
</a:t>
            </a:r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Bekannte Schwächen bewusst als rote / 500-Tests dokumentiert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800600" y="3191256"/>
            <a:ext cx="310896" cy="310896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3191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57800" y="3099816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Automatisiert
</a:t>
            </a:r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prüft jede Änderung isoliert &amp; deterministisch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572000"/>
            <a:ext cx="8138160" cy="0"/>
          </a:xfrm>
          <a:prstGeom prst="line">
            <a:avLst/>
          </a:prstGeom>
          <a:noFill/>
          <a:ln w="12700">
            <a:solidFill>
              <a:srgbClr val="2A35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4645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Andreas Pointner · Dominik Köberl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83480" y="4617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Vielen Dank — Fragen?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WAT4 – Testing-Projekt: NodeJS Shopping Cart</dc:title>
  <dc:subject>PptxGenJS Presentation</dc:subject>
  <dc:creator>Andreas Pointner, Dominik Köberl</dc:creator>
  <cp:lastModifiedBy>Andreas Pointner, Dominik Köberl</cp:lastModifiedBy>
  <cp:revision>1</cp:revision>
  <dcterms:created xsi:type="dcterms:W3CDTF">2026-06-23T18:59:22Z</dcterms:created>
  <dcterms:modified xsi:type="dcterms:W3CDTF">2026-06-23T18:59:22Z</dcterms:modified>
</cp:coreProperties>
</file>