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94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und Projekt. Roter Faden: vier Testarten (Unit, Integration, E2E, Last) plus CI/CD – zu jeder erklären wir WARUM gerade so getestet wurde, WAS sie abdeckt und WIE (mit Code).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Testobjekt: schlanker Express-Warenkorb, keine DB, Sessions im RAM. Daraus folgt direkt, WAS wir testen: Cart-Logik und Session-Verhalten.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Ebene testet ein anderes Risiko – das begründet die Auswahl. Nächste Slide: die Designprinzipien hinter UNSEREN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Unit: Cart-Logik ist geschäftskritisch und gut isolierbar. Code zeigt das Prinzip: instanziieren, Aktion, expect. Details der Abdeckung kommen auf der nächsten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die Unit-Tests abdecken und warum gerade diese: alle Cart-Operationen, plus zwei bewusste Spezialfälle – Geld-Mathematik (Floating Point) und Session-Rekonstruktion (kritisch wegen RAM-Architektur). Zwei rote Tests dokumentieren Schwächen.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Integration: einzelne Funktionen können stimmen, das Zusammenspiel trotzdem brechen. Code zeigt den Trick: request.agent hält die Cookies, dadurch testen wir den echten Session-Flow über mehrere Requests. Details der Abdeckung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Abdeckung Integration: links die lesenden Routen/Ansichten, rechts die Zustandsänderungen samt Fehlergrenzen. Warum gerade so: wir prüfen Redirect-Codes und set-cookie, weil genau das den Session-Flow ausmacht. Die drei 500er sind bewusst dokumentiert – sie zeigen die fehlende Validierung.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E2E: nur der echte Browser deckt Frontend↔Backend ab. Vier Journeys, bewusst gewählt: Hinzufügen, Entfernen, Reload-Persistenz (der wichtigste – wegen RAM-Sessions) und Navigation bei leerem Cart. Code zeigt den Reload-Test.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Lasttests: 'works on my machine' ≠ 'unter Last'. Code zeigt, WIE wir Last modellieren: stufenweise hochrampen plus Schwelle p95&lt;1000ms. Warum p95 statt Durchschnitt: der Schnitt versteckt Ausreißer. Ziel-SLO p95&lt;500ms.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Spike: bildet einen realen, plötzlichen Ansturm ab. Diagramm: flach bis 500, ab 1500 reißt p95 die 500ms-Grenze, bei 3000 Breaking Point mit ~10% Fehlern.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Stress: ergänzt Spike – stufenweise bis zur Grenze. Drei Zahlen: Durchsatz deckelt bei ~2000 req/s, p95 auf ~2s (Ziel 0,5s), 0% Fehler – graceful degradation statt Absturz.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CI/CD: jede Änderung wird automatisch geprüft. Zwei Pipelines (Build+Unit über Node-Matrix, E2E). Weil keine DB nötig ist, laufen Tests isoliert – schnell, deterministisch, gecached.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7D2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Application Testing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Shopping Cart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219456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Dominik Köberl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WAT4 · Projektpräsentation · 27.06.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TESTOBJEKT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Anwendung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71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
</a:t>
            </a: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Warenkorb-Prototyp mit serverseitigem Routing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12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im RAM
</a:t>
            </a: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Datenbank-Backend – Daten leben im Speicher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008376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0292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535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Handlebars (HBS)
</a:t>
            </a: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Template-basiertes Frontend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4663440" cy="841248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Kernlogik steckt im Cart-Modell und im Session-Handling – genau das ist unser Testschwerpunkt.</a:t>
            </a:r>
            <a:endParaRPr lang="en-US" sz="1200" dirty="0"/>
          </a:p>
        </p:txBody>
      </p:sp>
      <p:pic>
        <p:nvPicPr>
          <p:cNvPr id="16" name="Image 0" descr="/sessions/compassionate-keen-volta/mnt/nodejs-shopping-cart/data/nodejs-cart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6675" y="854964"/>
            <a:ext cx="2740085" cy="3246120"/>
          </a:xfrm>
          <a:prstGeom prst="rect">
            <a:avLst/>
          </a:prstGeom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Teststrategie nach der Testpyramide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94360" y="4160520"/>
            <a:ext cx="4572000" cy="56692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de-AT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Unit  · Jest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51560" y="3520440"/>
            <a:ext cx="3657600" cy="56692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Integration · Jest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508760" y="2880360"/>
            <a:ext cx="2743200" cy="566928"/>
          </a:xfrm>
          <a:prstGeom prst="rect">
            <a:avLst/>
          </a:prstGeom>
          <a:solidFill>
            <a:srgbClr val="67C9DD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E2E · Playwright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65960" y="2240280"/>
            <a:ext cx="1828800" cy="566928"/>
          </a:xfrm>
          <a:prstGeom prst="rect">
            <a:avLst/>
          </a:prstGeom>
          <a:solidFill>
            <a:srgbClr val="B8E6F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1965960" y="2240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Last · k6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schnell · viele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3085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
</a:t>
            </a: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die Logik korrekt? (Unit, Integration, E2E)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0" y="2523744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76072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Nicht-funktional
</a:t>
            </a: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gut hält sie unter Last? (Spike, Stress)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59435" y="3465576"/>
            <a:ext cx="146304" cy="146304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76072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
</a:t>
            </a: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Push wird in CI/CD geprüft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FUNKTIONAL · EBENE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(Jest)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EAF7FB"/>
          </a:solidFill>
          <a:ln w="12700">
            <a:solidFill>
              <a:srgbClr val="C5E8F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704088" y="1591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Warenkorb-Logik ist das Herz der App: Preis- &amp; Mengenberechnung. Ein Fehler hier betrifft jede Bestellung – isoliert getestet ist er sofort lokalisierbar.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WORAUF WIR ZIELEN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0954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3154680"/>
            <a:ext cx="35753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Korrektheit jeder Cart-Operation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71672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02920" y="34716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3416808"/>
            <a:ext cx="35753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Geld-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Mathematik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Rundung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Floating Point)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3380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502920" y="3733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3678936"/>
            <a:ext cx="35753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aus der Session rekonstruieren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794760" cy="2514600"/>
          </a:xfrm>
          <a:prstGeom prst="roundRect">
            <a:avLst>
              <a:gd name="adj" fmla="val 2182"/>
            </a:avLst>
          </a:prstGeom>
          <a:solidFill>
            <a:srgbClr val="0B1016"/>
          </a:solidFill>
          <a:ln w="12700">
            <a:solidFill>
              <a:srgbClr val="2430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>
              <a:buNone/>
            </a:pPr>
            <a:endParaRPr lang="de-AT" sz="1050" dirty="0">
              <a:solidFill>
                <a:srgbClr val="BCBEC4"/>
              </a:solidFill>
              <a:effectLst/>
              <a:latin typeface="JetBrains Mono"/>
            </a:endParaRPr>
          </a:p>
          <a:p>
            <a:pPr>
              <a:buNone/>
            </a:pPr>
            <a:endParaRPr lang="de-AT" sz="1050" dirty="0">
              <a:solidFill>
                <a:srgbClr val="BCBEC4"/>
              </a:solidFill>
              <a:latin typeface="JetBrains Mono"/>
            </a:endParaRPr>
          </a:p>
          <a:p>
            <a:pPr>
              <a:buNone/>
            </a:pPr>
            <a:endParaRPr lang="de-AT" sz="1050" dirty="0">
              <a:solidFill>
                <a:srgbClr val="BCBEC4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de-AT" sz="1050" dirty="0" err="1">
                <a:solidFill>
                  <a:srgbClr val="BCBEC4"/>
                </a:solidFill>
                <a:effectLst/>
                <a:latin typeface="JetBrains Mono"/>
              </a:rPr>
              <a:t>test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Should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not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add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a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product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with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missing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required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fields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() =&gt; {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05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de-AT" sz="105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A9B7C6"/>
                </a:solidFill>
                <a:effectLst/>
                <a:latin typeface="JetBrains Mono"/>
              </a:rPr>
              <a:t>cart</a:t>
            </a:r>
            <a:r>
              <a:rPr lang="de-AT" sz="105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de-AT" sz="1050" dirty="0" err="1">
                <a:solidFill>
                  <a:srgbClr val="CF8E6D"/>
                </a:solidFill>
                <a:effectLst/>
                <a:latin typeface="JetBrains Mono"/>
              </a:rPr>
              <a:t>new</a:t>
            </a:r>
            <a:r>
              <a:rPr lang="de-AT" sz="105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56A8F5"/>
                </a:solidFill>
                <a:effectLst/>
                <a:latin typeface="JetBrains Mono"/>
              </a:rPr>
              <a:t>Cart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({});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05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de-AT" sz="105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A9B7C6"/>
                </a:solidFill>
                <a:effectLst/>
                <a:latin typeface="JetBrains Mono"/>
              </a:rPr>
              <a:t>brokenProduct</a:t>
            </a:r>
            <a:r>
              <a:rPr lang="de-AT" sz="105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= {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050" dirty="0" err="1">
                <a:solidFill>
                  <a:srgbClr val="6AAB73"/>
                </a:solidFill>
                <a:effectLst/>
                <a:latin typeface="JetBrains Mono"/>
              </a:rPr>
              <a:t>prod_broken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>
                <a:solidFill>
                  <a:srgbClr val="C77DBB"/>
                </a:solidFill>
                <a:effectLst/>
                <a:latin typeface="JetBrains Mono"/>
              </a:rPr>
              <a:t>title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'Broken Item'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}; </a:t>
            </a:r>
            <a: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  <a:t>// Price </a:t>
            </a:r>
            <a:r>
              <a:rPr lang="de-AT" sz="1050" dirty="0" err="1">
                <a:solidFill>
                  <a:srgbClr val="7A7E85"/>
                </a:solidFill>
                <a:effectLst/>
                <a:latin typeface="JetBrains Mono"/>
              </a:rPr>
              <a:t>is</a:t>
            </a:r>
            <a: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7A7E85"/>
                </a:solidFill>
                <a:effectLst/>
                <a:latin typeface="JetBrains Mono"/>
              </a:rPr>
              <a:t>missing</a:t>
            </a:r>
            <a: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  <a:t>!</a:t>
            </a:r>
            <a:b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</a:br>
            <a:b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de-AT" sz="1050" dirty="0" err="1">
                <a:solidFill>
                  <a:srgbClr val="A9B7C6"/>
                </a:solidFill>
                <a:effectLst/>
                <a:latin typeface="JetBrains Mono"/>
              </a:rPr>
              <a:t>cart</a:t>
            </a:r>
            <a:r>
              <a:rPr lang="de-AT" sz="105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de-AT" sz="1050" dirty="0" err="1">
                <a:solidFill>
                  <a:srgbClr val="56A8F5"/>
                </a:solidFill>
                <a:effectLst/>
                <a:latin typeface="JetBrains Mono"/>
              </a:rPr>
              <a:t>add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050" dirty="0" err="1">
                <a:solidFill>
                  <a:srgbClr val="A9B7C6"/>
                </a:solidFill>
                <a:effectLst/>
                <a:latin typeface="JetBrains Mono"/>
              </a:rPr>
              <a:t>brokenProduct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>
                <a:solidFill>
                  <a:srgbClr val="A9B7C6"/>
                </a:solidFill>
                <a:effectLst/>
                <a:latin typeface="JetBrains Mono"/>
              </a:rPr>
              <a:t>brokenProduct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de-AT" sz="1050" dirty="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de-AT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100" dirty="0" err="1">
                <a:solidFill>
                  <a:srgbClr val="BCBEC4"/>
                </a:solidFill>
                <a:effectLst/>
                <a:latin typeface="JetBrains Mono"/>
              </a:rPr>
              <a:t>expect</a:t>
            </a: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100" dirty="0" err="1">
                <a:solidFill>
                  <a:srgbClr val="A9B7C6"/>
                </a:solidFill>
                <a:effectLst/>
                <a:latin typeface="JetBrains Mono"/>
              </a:rPr>
              <a:t>cart</a:t>
            </a:r>
            <a:r>
              <a:rPr lang="de-AT" sz="11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de-AT" sz="1100" dirty="0" err="1">
                <a:solidFill>
                  <a:srgbClr val="C77DBB"/>
                </a:solidFill>
                <a:effectLst/>
                <a:latin typeface="JetBrains Mono"/>
              </a:rPr>
              <a:t>totalItems</a:t>
            </a: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de-AT" sz="1100" dirty="0" err="1">
                <a:solidFill>
                  <a:srgbClr val="56A8F5"/>
                </a:solidFill>
                <a:effectLst/>
                <a:latin typeface="JetBrains Mono"/>
              </a:rPr>
              <a:t>toBe</a:t>
            </a: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1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100" dirty="0">
                <a:solidFill>
                  <a:srgbClr val="BCBEC4"/>
                </a:solidFill>
                <a:effectLst/>
                <a:latin typeface="JetBrains Mono"/>
              </a:rPr>
              <a:t>});</a:t>
            </a:r>
            <a:endParaRPr lang="de-AT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488" y="1627632"/>
            <a:ext cx="91440" cy="91440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5193792" y="1627632"/>
            <a:ext cx="91440" cy="91440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5340096" y="16276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577840" y="1554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cart.test.js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2352" y="192024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BEE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704088" y="4215384"/>
            <a:ext cx="365760" cy="365760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70408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2728" y="416052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bewusst rote Tests = dokumentierte Schwachstellen:  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 ohne Preis werden akzeptiert (fehlende Validierung) und das Entfernen eines nicht vorhandenen Produkts wirft eine Exception.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· ABDECKUNG &amp; AUSWAHL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 am Cart-Modell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HINZUFÜGEN &amp; MENGEN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4088" y="184708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8408" y="1783080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Produkt anlegen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203704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04088" y="220370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78408" y="2139696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erhöhen bei gleichem Artikel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2560320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04088" y="256032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78408" y="2496312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Keys für versch. Produkte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2916936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704088" y="29169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8408" y="2852928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aus Session rekonstruieren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" y="3273552"/>
            <a:ext cx="173736" cy="173736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04088" y="32735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78408" y="3209544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ohne Preis ablehnen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23" name="Text 21"/>
          <p:cNvSpPr/>
          <p:nvPr/>
        </p:nvSpPr>
        <p:spPr>
          <a:xfrm>
            <a:off x="4864608" y="1517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PREIS &amp; ENTFERNEN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64608" y="184708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864608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38928" y="178308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Gesamtpreis korrekt summieren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64608" y="214426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864608" y="21442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38928" y="208026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Floating-Point: 9,99 × 3 = 29,97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64608" y="244144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4864608" y="24414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38928" y="237744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vollständig entfernen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64608" y="273862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4864608" y="27386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38928" y="267462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getItems() liefert Array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64608" y="303580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4864608" y="30358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38928" y="297180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Leerer Warenkorb = Default-Werte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64608" y="3332988"/>
            <a:ext cx="173736" cy="173736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4864608" y="33329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38928" y="3268980"/>
            <a:ext cx="3374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Entfernen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existierender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Fehler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FUNKTIONAL · EBENE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Integration-Tests (Jest + supertest)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977640" cy="1435608"/>
          </a:xfrm>
          <a:prstGeom prst="roundRect">
            <a:avLst>
              <a:gd name="adj" fmla="val 5517"/>
            </a:avLst>
          </a:prstGeom>
          <a:solidFill>
            <a:srgbClr val="EAF7FB"/>
          </a:solidFill>
          <a:ln w="12700">
            <a:solidFill>
              <a:srgbClr val="C5E8F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704088" y="1591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3483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</a:pPr>
            <a:r>
              <a:rPr lang="de-AT" sz="1250" dirty="0"/>
              <a:t>Ein korrektes </a:t>
            </a:r>
            <a:r>
              <a:rPr lang="de-AT" sz="1250" dirty="0" err="1"/>
              <a:t>Cart</a:t>
            </a:r>
            <a:r>
              <a:rPr lang="de-AT" sz="1250" dirty="0"/>
              <a:t>-Modell bringt nichts, wenn die Route es nicht korrekt in der Session speichert. Wir testen die Schnittstelle zwischen Routing und Session über HTTP-</a:t>
            </a:r>
            <a:r>
              <a:rPr lang="de-AT" sz="1250" dirty="0" err="1"/>
              <a:t>Requests</a:t>
            </a:r>
            <a:r>
              <a:rPr lang="de-AT" sz="1250" dirty="0"/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3009177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WORAUF WIR ZIELEN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30098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02920" y="33009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3302586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Routen 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leiten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" y="3547872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persistiert über mehrere Requests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502920" y="3794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3808576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 bei ungültigen Eingaben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60519" y="1536192"/>
            <a:ext cx="3794760" cy="2834640"/>
          </a:xfrm>
          <a:prstGeom prst="roundRect">
            <a:avLst>
              <a:gd name="adj" fmla="val 1935"/>
            </a:avLst>
          </a:prstGeom>
          <a:solidFill>
            <a:srgbClr val="0B1016"/>
          </a:solidFill>
          <a:ln w="12700">
            <a:solidFill>
              <a:srgbClr val="2430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>
              <a:buNone/>
            </a:pPr>
            <a:endParaRPr lang="de-AT" sz="1200" dirty="0">
              <a:solidFill>
                <a:srgbClr val="BCBEC4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test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'GET /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remove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/: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id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when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item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is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not in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cart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should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throw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an internal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server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error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due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to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missing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checks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async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() =&gt; {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A9B7C6"/>
                </a:solidFill>
                <a:effectLst/>
                <a:latin typeface="JetBrains Mono"/>
              </a:rPr>
              <a:t>response</a:t>
            </a:r>
            <a:r>
              <a:rPr lang="de-AT" sz="12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request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i="1" dirty="0" err="1">
                <a:solidFill>
                  <a:srgbClr val="C77DBA"/>
                </a:solidFill>
                <a:effectLst/>
                <a:latin typeface="JetBrains Mono"/>
              </a:rPr>
              <a:t>app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get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`/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remove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/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${</a:t>
            </a:r>
            <a:r>
              <a:rPr lang="de-AT" sz="1200" dirty="0">
                <a:solidFill>
                  <a:srgbClr val="A9B7C6"/>
                </a:solidFill>
                <a:effectLst/>
                <a:latin typeface="JetBrains Mono"/>
              </a:rPr>
              <a:t>validProduct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de-AT" sz="1200" dirty="0">
                <a:solidFill>
                  <a:srgbClr val="C77DBB"/>
                </a:solidFill>
                <a:effectLst/>
                <a:latin typeface="JetBrains Mono"/>
              </a:rPr>
              <a:t>id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`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expect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 err="1">
                <a:solidFill>
                  <a:srgbClr val="A9B7C6"/>
                </a:solidFill>
                <a:effectLst/>
                <a:latin typeface="JetBrains Mono"/>
              </a:rPr>
              <a:t>response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.statusCode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toBe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2AACB8"/>
                </a:solidFill>
                <a:effectLst/>
                <a:latin typeface="JetBrains Mono"/>
              </a:rPr>
              <a:t>500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//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It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would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be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better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if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the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server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handled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such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cases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more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effectively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and</a:t>
            </a:r>
            <a:b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   //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does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not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return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a 5xx </a:t>
            </a:r>
            <a:r>
              <a:rPr lang="de-AT" sz="1200" dirty="0" err="1">
                <a:solidFill>
                  <a:srgbClr val="7A7E85"/>
                </a:solidFill>
                <a:effectLst/>
                <a:latin typeface="JetBrains Mono"/>
              </a:rPr>
              <a:t>error</a:t>
            </a: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code.</a:t>
            </a:r>
            <a:b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});</a:t>
            </a:r>
          </a:p>
        </p:txBody>
      </p:sp>
      <p:sp>
        <p:nvSpPr>
          <p:cNvPr id="20" name="Shape 18"/>
          <p:cNvSpPr/>
          <p:nvPr/>
        </p:nvSpPr>
        <p:spPr>
          <a:xfrm>
            <a:off x="5047488" y="1627632"/>
            <a:ext cx="91440" cy="91440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5193792" y="1627632"/>
            <a:ext cx="91440" cy="91440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5340096" y="16276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577840" y="1554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integration.test.js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2352" y="1920240"/>
            <a:ext cx="333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· ABDECKUNG &amp; AUSWAHL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an Routen &amp; Session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448056" y="1369493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ROUTEN &amp; ANSICHTEN (LESEND)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4088" y="184708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8408" y="1783080"/>
            <a:ext cx="337413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29285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04088" y="229285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78408" y="2228850"/>
            <a:ext cx="337413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/cart redirect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Warenkorb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273862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04088" y="27386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78408" y="2674620"/>
            <a:ext cx="337413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/cart zeigt Artikel nach /add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318439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704088" y="318439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8408" y="3120390"/>
            <a:ext cx="337413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/cart wieder leer nach /remove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20" name="Text 18"/>
          <p:cNvSpPr/>
          <p:nvPr/>
        </p:nvSpPr>
        <p:spPr>
          <a:xfrm>
            <a:off x="4864608" y="15179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MUTATIONEN &amp; FEHLERGRENZEN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64608" y="184708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864608" y="18470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38928" y="1783080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/add → 302 Redirect + set-cookie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235549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861742" y="223591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38928" y="2201293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/remove → 302 Redirect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50892" y="2651760"/>
            <a:ext cx="173736" cy="173736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850892" y="2641473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2647188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/add/999 (ungültige ID) → 500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64608" y="3164967"/>
            <a:ext cx="173736" cy="173736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 dirty="0"/>
          </a:p>
        </p:txBody>
      </p:sp>
      <p:sp>
        <p:nvSpPr>
          <p:cNvPr id="31" name="Text 29"/>
          <p:cNvSpPr/>
          <p:nvPr/>
        </p:nvSpPr>
        <p:spPr>
          <a:xfrm>
            <a:off x="4864608" y="3156733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02352" y="3164967"/>
            <a:ext cx="3374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/remove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Warenkorb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500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2735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3931920"/>
            <a:ext cx="8138160" cy="804672"/>
          </a:xfrm>
          <a:prstGeom prst="roundRect">
            <a:avLst>
              <a:gd name="adj" fmla="val 9091"/>
            </a:avLst>
          </a:prstGeom>
          <a:solidFill>
            <a:srgbClr val="EAF7FB"/>
          </a:solidFill>
          <a:ln w="12700">
            <a:solidFill>
              <a:srgbClr val="C5E8F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731520" y="402336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 err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Zusatzinfo</a:t>
            </a: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request.agent hält Cookies → echter Session-Flow über mehrere Requests. Die </a:t>
            </a:r>
            <a:r>
              <a:rPr lang="en-US" sz="1150" b="1" dirty="0">
                <a:solidFill>
                  <a:srgbClr val="D9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500er-Fälle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prüfen wir bewusst, um die fehlende Eingabe-Validierung der Routen </a:t>
            </a:r>
            <a:r>
              <a:rPr lang="en-US" sz="11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festzuhalten</a:t>
            </a: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923FC58C-86E9-291B-0885-B7DDAA4EBA6B}"/>
              </a:ext>
            </a:extLst>
          </p:cNvPr>
          <p:cNvSpPr/>
          <p:nvPr/>
        </p:nvSpPr>
        <p:spPr>
          <a:xfrm>
            <a:off x="6137596" y="4143258"/>
            <a:ext cx="173736" cy="173736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D72A3E97-788E-02F9-63C0-1B30064F1711}"/>
              </a:ext>
            </a:extLst>
          </p:cNvPr>
          <p:cNvSpPr/>
          <p:nvPr/>
        </p:nvSpPr>
        <p:spPr>
          <a:xfrm>
            <a:off x="6137596" y="414325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FUNKTIONAL · EBENE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End-to-End-Tests (Playwright)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EAF7FB"/>
          </a:solidFill>
          <a:ln w="12700">
            <a:solidFill>
              <a:srgbClr val="C5E8F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704088" y="1591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1847088"/>
            <a:ext cx="3483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der echte Browser beweist, dass Frontend und Backend für den Nutzer zusammen funktionieren – inklusive Session-Persistenz nach </a:t>
            </a:r>
            <a:r>
              <a:rPr lang="en-US" sz="125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einem</a:t>
            </a: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Reload.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10" name="Text 8"/>
          <p:cNvSpPr/>
          <p:nvPr/>
        </p:nvSpPr>
        <p:spPr>
          <a:xfrm>
            <a:off x="704088" y="30723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340156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04088" y="34015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78408" y="3337560"/>
            <a:ext cx="328269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hinzufügen &amp; im Cart sichtbar (CHF)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361873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704088" y="361873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78408" y="3554730"/>
            <a:ext cx="328269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entfernen → leerer Zustand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" y="383590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704088" y="38359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8408" y="3771900"/>
            <a:ext cx="328269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Session-Persistenz über Reload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" y="4053078"/>
            <a:ext cx="173736" cy="17373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704088" y="405307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408" y="3989070"/>
            <a:ext cx="328269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Mehrmaliges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Hinzufügen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eines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64608" y="1469898"/>
            <a:ext cx="4215384" cy="2736342"/>
          </a:xfrm>
          <a:prstGeom prst="roundRect">
            <a:avLst>
              <a:gd name="adj" fmla="val 2449"/>
            </a:avLst>
          </a:prstGeom>
          <a:solidFill>
            <a:srgbClr val="0B1016"/>
          </a:solidFill>
          <a:ln w="12700">
            <a:solidFill>
              <a:srgbClr val="2430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>
              <a:buNone/>
            </a:pPr>
            <a:endParaRPr lang="de-AT" sz="1200" dirty="0">
              <a:solidFill>
                <a:srgbClr val="56A8F5"/>
              </a:solidFill>
              <a:effectLst/>
              <a:latin typeface="JetBrains Mono"/>
            </a:endParaRPr>
          </a:p>
          <a:p>
            <a:pPr>
              <a:buNone/>
            </a:pPr>
            <a:endParaRPr lang="de-AT" sz="1200" dirty="0">
              <a:solidFill>
                <a:srgbClr val="56A8F5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test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'Session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persistence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across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reloads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async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({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}) =&gt; {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goto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`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${</a:t>
            </a:r>
            <a:r>
              <a:rPr lang="de-AT" sz="1200" dirty="0">
                <a:solidFill>
                  <a:srgbClr val="A9B7C6"/>
                </a:solidFill>
                <a:effectLst/>
                <a:latin typeface="JetBrains Mono"/>
              </a:rPr>
              <a:t>BASE_URL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/`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click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'a[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href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^="/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add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/"] &gt;&gt; 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nth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=0'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b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7A7E85"/>
                </a:solidFill>
                <a:effectLst/>
                <a:latin typeface="JetBrains Mono"/>
              </a:rPr>
              <a:t>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reload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goto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`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${</a:t>
            </a:r>
            <a:r>
              <a:rPr lang="de-AT" sz="1200" dirty="0">
                <a:solidFill>
                  <a:srgbClr val="A9B7C6"/>
                </a:solidFill>
                <a:effectLst/>
                <a:latin typeface="JetBrains Mono"/>
              </a:rPr>
              <a:t>BASE_URL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/</a:t>
            </a:r>
            <a:r>
              <a:rPr lang="de-AT" sz="1200" dirty="0" err="1">
                <a:solidFill>
                  <a:srgbClr val="6AAB73"/>
                </a:solidFill>
                <a:effectLst/>
                <a:latin typeface="JetBrains Mono"/>
              </a:rPr>
              <a:t>cart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`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de-AT" sz="1200" dirty="0" err="1">
                <a:solidFill>
                  <a:srgbClr val="CF8E6D"/>
                </a:solidFill>
                <a:effectLst/>
                <a:latin typeface="JetBrains Mono"/>
              </a:rPr>
              <a:t>await</a:t>
            </a:r>
            <a:r>
              <a:rPr lang="de-AT" sz="12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200" dirty="0" err="1">
                <a:solidFill>
                  <a:srgbClr val="A9B7C6"/>
                </a:solidFill>
                <a:effectLst/>
                <a:latin typeface="JetBrains Mono"/>
              </a:rPr>
              <a:t>expect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 err="1">
                <a:solidFill>
                  <a:srgbClr val="BCBEC4"/>
                </a:solidFill>
                <a:effectLst/>
                <a:latin typeface="JetBrains Mono"/>
              </a:rPr>
              <a:t>page.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locator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de-AT" sz="1200" dirty="0">
                <a:solidFill>
                  <a:srgbClr val="6AAB73"/>
                </a:solidFill>
                <a:effectLst/>
                <a:latin typeface="JetBrains Mono"/>
              </a:rPr>
              <a:t>'.list-group-item'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)).</a:t>
            </a:r>
            <a:r>
              <a:rPr lang="de-AT" sz="1200" dirty="0" err="1">
                <a:solidFill>
                  <a:srgbClr val="56A8F5"/>
                </a:solidFill>
                <a:effectLst/>
                <a:latin typeface="JetBrains Mono"/>
              </a:rPr>
              <a:t>toBeVisible</a:t>
            </a: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200" dirty="0">
                <a:solidFill>
                  <a:srgbClr val="BCBEC4"/>
                </a:solidFill>
                <a:effectLst/>
                <a:latin typeface="JetBrains Mono"/>
              </a:rPr>
              <a:t>});</a:t>
            </a:r>
            <a:br>
              <a:rPr lang="de-AT" dirty="0">
                <a:solidFill>
                  <a:srgbClr val="BCBEC4"/>
                </a:solidFill>
                <a:effectLst/>
                <a:latin typeface="JetBrains Mono"/>
              </a:rPr>
            </a:br>
            <a:endParaRPr lang="de-AT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7488" y="1627632"/>
            <a:ext cx="91440" cy="91440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5193792" y="1627632"/>
            <a:ext cx="91440" cy="91440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5340096" y="16276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5577840" y="1554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shopping-cart.spec.js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92024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37176" y="413994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 err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</a:t>
            </a: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Reload-Test beweist, dass die Server-Session den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Warenkorb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</a:t>
            </a:r>
            <a:r>
              <a:rPr lang="en-US" sz="11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NICHT-FUNKTIONAL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Lasttests mit Grafana k6 – warum?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AF7FB"/>
          </a:solidFill>
          <a:ln w="12700">
            <a:solidFill>
              <a:srgbClr val="C5E8F1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04088" y="1453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WARUM?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709928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„It works on my machine“ ≠ „It works under load“. Funktionale Tests zeigen, OB es funktioniert – Lasttests zeigen, WIE GUT es unter realer Last skaliert.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0B1016"/>
          </a:solidFill>
          <a:ln w="12700">
            <a:solidFill>
              <a:srgbClr val="2430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704088" y="2743200"/>
            <a:ext cx="91440" cy="91440"/>
          </a:xfrm>
          <a:prstGeom prst="ellipse">
            <a:avLst/>
          </a:prstGeom>
          <a:solidFill>
            <a:srgbClr val="E0524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Shape 8"/>
          <p:cNvSpPr/>
          <p:nvPr/>
        </p:nvSpPr>
        <p:spPr>
          <a:xfrm>
            <a:off x="850392" y="2743200"/>
            <a:ext cx="91440" cy="91440"/>
          </a:xfrm>
          <a:prstGeom prst="ellipse">
            <a:avLst/>
          </a:prstGeom>
          <a:solidFill>
            <a:srgbClr val="D987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Shape 9"/>
          <p:cNvSpPr/>
          <p:nvPr/>
        </p:nvSpPr>
        <p:spPr>
          <a:xfrm>
            <a:off x="996696" y="27432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1234440" y="2670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stress-test.js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3035808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de-AT" sz="1050" dirty="0" err="1">
                <a:solidFill>
                  <a:srgbClr val="CF8E6D"/>
                </a:solidFill>
                <a:effectLst/>
                <a:latin typeface="JetBrains Mono"/>
              </a:rPr>
              <a:t>export</a:t>
            </a:r>
            <a:r>
              <a:rPr lang="de-AT" sz="105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050" dirty="0" err="1">
                <a:solidFill>
                  <a:srgbClr val="CF8E6D"/>
                </a:solidFill>
                <a:effectLst/>
                <a:latin typeface="JetBrains Mono"/>
              </a:rPr>
              <a:t>const</a:t>
            </a:r>
            <a:r>
              <a:rPr lang="de-AT" sz="105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de-AT" sz="1050" i="1" dirty="0" err="1">
                <a:solidFill>
                  <a:srgbClr val="C77DBA"/>
                </a:solidFill>
                <a:effectLst/>
                <a:latin typeface="JetBrains Mono"/>
              </a:rPr>
              <a:t>options</a:t>
            </a:r>
            <a:r>
              <a:rPr lang="de-AT" sz="1050" i="1" dirty="0">
                <a:solidFill>
                  <a:srgbClr val="C77DBA"/>
                </a:solidFill>
                <a:effectLst/>
                <a:latin typeface="JetBrains Mono"/>
              </a:rPr>
              <a:t>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= {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stages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[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{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duration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'10s'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target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2AACB8"/>
                </a:solidFill>
                <a:effectLst/>
                <a:latin typeface="JetBrains Mono"/>
              </a:rPr>
              <a:t>10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},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{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duration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'5s'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target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2AACB8"/>
                </a:solidFill>
                <a:effectLst/>
                <a:latin typeface="JetBrains Mono"/>
              </a:rPr>
              <a:t>3000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},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{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duration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'15s'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target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2AACB8"/>
                </a:solidFill>
                <a:effectLst/>
                <a:latin typeface="JetBrains Mono"/>
              </a:rPr>
              <a:t>3000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},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  {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duration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6AAB73"/>
                </a:solidFill>
                <a:effectLst/>
                <a:latin typeface="JetBrains Mono"/>
              </a:rPr>
              <a:t>'5s'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de-AT" sz="1050" dirty="0" err="1">
                <a:solidFill>
                  <a:srgbClr val="C77DBB"/>
                </a:solidFill>
                <a:effectLst/>
                <a:latin typeface="JetBrains Mono"/>
              </a:rPr>
              <a:t>target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lang="de-AT" sz="1050" dirty="0"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},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  ],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  <a:t>};</a:t>
            </a:r>
            <a:br>
              <a:rPr lang="de-AT" sz="1050" dirty="0">
                <a:solidFill>
                  <a:srgbClr val="BCBEC4"/>
                </a:solidFill>
                <a:effectLst/>
                <a:latin typeface="JetBrains Mono"/>
              </a:rPr>
            </a:br>
            <a:endParaRPr lang="de-AT" sz="105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Lastprofile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212080" y="17373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 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 Lastspitze – schlagartiger Ansturm (50 → 3.000 Nutzer)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37760" y="2578608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212080" y="24871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 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Stufenweise an die Grenze – wo liegt der Sättigungspunkt?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37760" y="333756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12181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12064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Kennzahl: p95-Antwortzeit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20640" y="3730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der Anfragen sind schneller als dieser Wert – ehrlicher als der Durchschnitt, der Ausreißer versteckt.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LASTTEST · TYP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 – plötzliche Lastspitze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/sessions/compassionate-keen-volta/mnt/nodejs-shopping-cart/data/spike-test-p95-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25880"/>
            <a:ext cx="4297680" cy="2602651"/>
          </a:xfrm>
          <a:prstGeom prst="rect">
            <a:avLst/>
          </a:prstGeom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4019971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über steigende Nutzerzahl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66360" y="1417320"/>
            <a:ext cx="3474720" cy="868680"/>
          </a:xfrm>
          <a:prstGeom prst="roundRect">
            <a:avLst>
              <a:gd name="adj" fmla="val 736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5"/>
          <p:cNvSpPr/>
          <p:nvPr/>
        </p:nvSpPr>
        <p:spPr>
          <a:xfrm>
            <a:off x="5349240" y="15270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500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949440" y="1508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Exzellente Performance, stabil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66360" y="2395728"/>
            <a:ext cx="3474720" cy="868680"/>
          </a:xfrm>
          <a:prstGeom prst="roundRect">
            <a:avLst>
              <a:gd name="adj" fmla="val 736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/>
          <p:nvPr/>
        </p:nvSpPr>
        <p:spPr>
          <a:xfrm>
            <a:off x="5349240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1.500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949440" y="2487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überschreitet 500 ms – spürbar träger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66360" y="3374136"/>
            <a:ext cx="3474720" cy="868680"/>
          </a:xfrm>
          <a:prstGeom prst="roundRect">
            <a:avLst>
              <a:gd name="adj" fmla="val 736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534924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3.000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49440" y="346557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Point: Fehlerrate 9,65 %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66360" y="4370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so testen: </a:t>
            </a: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realer Ansturm (z. B. Aktion) trifft die App schlagartig – optimal bis ~500 Nutzer, darüber Load-Balancing nötig.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LASTTEST · TYP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– stufenweise an die Grenze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/sessions/compassionate-keen-volta/mnt/nodejs-shopping-cart/data/stress-test-result-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65442" y="1179576"/>
            <a:ext cx="6024366" cy="1143000"/>
          </a:xfrm>
          <a:prstGeom prst="rect">
            <a:avLst/>
          </a:prstGeom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02920" y="2386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Durchsatz (grün) flacht ab, p95 (blau) steigt – Fehlerrate bleibt 0 %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2852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so testen: </a:t>
            </a: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stufenweise Steigerung deckt den Sättigungspunkt auf. Aufbau: 400 → 2.800 Nutzer, Schwellen p95 &lt; 1.000 ms, Abbruch ab 5 % Fehlern.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2529840" cy="1298448"/>
          </a:xfrm>
          <a:prstGeom prst="roundRect">
            <a:avLst>
              <a:gd name="adj" fmla="val 633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502920" y="3502152"/>
            <a:ext cx="252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~2.000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Obergrenze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07080" y="3383280"/>
            <a:ext cx="2529840" cy="1298448"/>
          </a:xfrm>
          <a:prstGeom prst="roundRect">
            <a:avLst>
              <a:gd name="adj" fmla="val 633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3307080" y="3502152"/>
            <a:ext cx="252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D9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3444240" y="41605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im Peak (Ziel: 0,5 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11240" y="3383280"/>
            <a:ext cx="2529840" cy="1298448"/>
          </a:xfrm>
          <a:prstGeom prst="roundRect">
            <a:avLst>
              <a:gd name="adj" fmla="val 6338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Text 12"/>
          <p:cNvSpPr/>
          <p:nvPr/>
        </p:nvSpPr>
        <p:spPr>
          <a:xfrm>
            <a:off x="6111240" y="3502152"/>
            <a:ext cx="252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6248400" y="416052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– kein Absturz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AUTOMATISIERUNG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CI/CD-Pipeline (GitHub Actions)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94776" y="3840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88620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build.yml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Unit-Test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prüfen, dann Tests über Node-Matrix 18 / 20 / 22. npm ci für deterministische Installs.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8620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playwright.yml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 den Express-Server, fährt die Playwright-Suite, erzeugt bei Fehlern automatisch Reports.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CI/CD? Test-Isolation als Qualitätsmerkmal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1612</Words>
  <Application>Microsoft Office PowerPoint</Application>
  <PresentationFormat>Bildschirmpräsentation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JetBrains Mono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WAT4 – Testing-Projekt: NodeJS Shopping Cart</dc:title>
  <dc:subject>PptxGenJS Presentation</dc:subject>
  <dc:creator>Andreas Pointner, Dominik Köberl</dc:creator>
  <cp:lastModifiedBy>Koeberl Dominik - s2410307019</cp:lastModifiedBy>
  <cp:revision>9</cp:revision>
  <dcterms:created xsi:type="dcterms:W3CDTF">2026-06-23T18:59:22Z</dcterms:created>
  <dcterms:modified xsi:type="dcterms:W3CDTF">2026-06-25T17:23:36Z</dcterms:modified>
</cp:coreProperties>
</file>